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51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3457575" y="571500"/>
            <a:ext cx="497205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Review Sentiment Analysis using BERT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457575" y="2360228"/>
            <a:ext cx="49720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AI/ML Specialization Capstone Project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629025" y="4164806"/>
            <a:ext cx="48006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Objective: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 the classification of customer feedback to enable </a:t>
            </a:r>
            <a:r>
              <a:rPr lang="en-US" sz="1050" dirty="0" smtClean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times and improve customer experience.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3457575" y="2900555"/>
            <a:ext cx="497205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By: Vaibhav </a:t>
            </a:r>
            <a:r>
              <a:rPr lang="en-US" sz="1400" b="1" dirty="0" err="1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Krishnakant</a:t>
            </a:r>
            <a:r>
              <a:rPr lang="en-US" sz="1400" b="1" dirty="0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b="1" dirty="0" err="1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Chavan</a:t>
            </a:r>
            <a:r>
              <a:rPr lang="en-US" sz="1400" b="1" dirty="0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</a:t>
            </a:r>
          </a:p>
          <a:p>
            <a:r>
              <a:rPr lang="en-US" sz="1400" b="1" dirty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Course: </a:t>
            </a:r>
            <a:r>
              <a:rPr lang="en-US" sz="1400" b="1" dirty="0" smtClean="0">
                <a:solidFill>
                  <a:srgbClr val="34495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PGDSAIML-Batch1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IMDb Dataset and Preprocessing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4313" y="910828"/>
            <a:ext cx="4143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 Characteristics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4313" y="1253728"/>
            <a:ext cx="414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utilizes the IMDb Large Movie Review Dataset, a standard benchmark for sentiment analysis.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906" y="1782366"/>
            <a:ext cx="39647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 Reviews: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50,000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2906" y="2082403"/>
            <a:ext cx="3582712" cy="2068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/>
                <a:ea typeface="Roboto Bold"/>
                <a:cs typeface="Roboto Bold" pitchFamily="34" charset="-120"/>
              </a:rPr>
              <a:t>Balance:</a:t>
            </a:r>
            <a:r>
              <a:rPr lang="en-US" sz="1050" b="1" dirty="0">
                <a:solidFill>
                  <a:srgbClr val="34495E"/>
                </a:solidFill>
                <a:latin typeface="Roboto Bold"/>
                <a:ea typeface="Roboto Bold"/>
                <a:cs typeface="Roboto" pitchFamily="34" charset="-120"/>
              </a:rPr>
              <a:t> 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Perfectly balanced (50% positive, 50% negative)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2906" y="2382441"/>
            <a:ext cx="3964781" cy="413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/>
                <a:ea typeface="Roboto Bold"/>
                <a:cs typeface="Roboto Bold" pitchFamily="34" charset="-120"/>
              </a:rPr>
              <a:t>L</a:t>
            </a:r>
            <a:r>
              <a:rPr lang="en-US" sz="1000" b="1" dirty="0" smtClean="0">
                <a:solidFill>
                  <a:srgbClr val="34495E"/>
                </a:solidFill>
                <a:latin typeface="Roboto Bold"/>
                <a:ea typeface="Roboto Bold"/>
                <a:cs typeface="Roboto Bold" pitchFamily="34" charset="-120"/>
              </a:rPr>
              <a:t>ength</a:t>
            </a:r>
            <a:r>
              <a:rPr lang="en-US" sz="1000" b="1" dirty="0">
                <a:solidFill>
                  <a:srgbClr val="34495E"/>
                </a:solidFill>
                <a:latin typeface="Roboto Bold"/>
                <a:ea typeface="Roboto Bold"/>
                <a:cs typeface="Roboto Bold" pitchFamily="34" charset="-120"/>
              </a:rPr>
              <a:t>:</a:t>
            </a:r>
            <a:r>
              <a:rPr lang="en-US" sz="1050" b="1" dirty="0">
                <a:solidFill>
                  <a:srgbClr val="34495E"/>
                </a:solidFill>
                <a:latin typeface="Roboto Bold"/>
                <a:ea typeface="Roboto Bold"/>
                <a:cs typeface="Roboto" pitchFamily="34" charset="-120"/>
              </a:rPr>
              <a:t> 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text length of 1,325 characters (approx. 234 words)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4313" y="2925366"/>
            <a:ext cx="4143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Preprocessing Pipeline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4313" y="3268266"/>
            <a:ext cx="414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ensure model quality, the raw text underwent rigorous cleaning: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2906" y="3796903"/>
            <a:ext cx="39647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Removal of HTML tags (found in 14,667 reviews)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2906" y="4096941"/>
            <a:ext cx="39647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Removal of URLs and special characters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2906" y="4396978"/>
            <a:ext cx="39647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Conversion to lowercase to standardize vocabulary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6313" y="910828"/>
            <a:ext cx="4143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Split Strategy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86313" y="1253728"/>
            <a:ext cx="1688995" cy="3429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4"/>
          <p:cNvSpPr/>
          <p:nvPr/>
        </p:nvSpPr>
        <p:spPr>
          <a:xfrm>
            <a:off x="4786313" y="1589484"/>
            <a:ext cx="1688995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1253728"/>
            <a:ext cx="1688995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75307" y="1253728"/>
            <a:ext cx="995549" cy="3429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6475307" y="1589484"/>
            <a:ext cx="995549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75307" y="1253728"/>
            <a:ext cx="99554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Count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70856" y="1253728"/>
            <a:ext cx="1458832" cy="3429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0"/>
          <p:cNvSpPr/>
          <p:nvPr/>
        </p:nvSpPr>
        <p:spPr>
          <a:xfrm>
            <a:off x="7470856" y="1589484"/>
            <a:ext cx="1458832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4" name="Text 21"/>
          <p:cNvSpPr/>
          <p:nvPr/>
        </p:nvSpPr>
        <p:spPr>
          <a:xfrm>
            <a:off x="7470856" y="1253728"/>
            <a:ext cx="145883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Percentage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86313" y="1593056"/>
            <a:ext cx="1688995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Set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75307" y="1593056"/>
            <a:ext cx="995549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20,000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470856" y="1593056"/>
            <a:ext cx="145883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786313" y="1935956"/>
            <a:ext cx="1688995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Set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75307" y="1935956"/>
            <a:ext cx="995549" cy="346472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5,000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70856" y="1935956"/>
            <a:ext cx="1458832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 smtClean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86313" y="2282428"/>
            <a:ext cx="1688995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Set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75307" y="2282428"/>
            <a:ext cx="995549" cy="346472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25,000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470856" y="2267921"/>
            <a:ext cx="1458832" cy="37548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72038" y="2718197"/>
            <a:ext cx="3196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61032" y="2718197"/>
            <a:ext cx="44648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50,000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556581" y="2718197"/>
            <a:ext cx="3518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 Model: TF-IDF + Logistic Regression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85750" y="982266"/>
            <a:ext cx="497205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85750" y="1301948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establish a performance benchmark, a traditional machine learning pipeline was implemented: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1830586"/>
            <a:ext cx="482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Vectorization: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TF-IDF extracts up to 50,000 features using unigrams and bigrams.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8625" y="2359223"/>
            <a:ext cx="482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Classification: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Logistic Regression model learns the relationship between word frequencies and sentiment labels.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5750" y="3016448"/>
            <a:ext cx="497205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Advantages &amp; Limitations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8625" y="3336131"/>
            <a:ext cx="482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Extremely resource-efficient, highly interpretable, and requires no specialized GPU hardware.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8625" y="3864769"/>
            <a:ext cx="482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Acts as a "bag-of-words" model, ignoring word order, grammar, and complex context (e.g., sarcasm).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43550" y="982266"/>
            <a:ext cx="1614488" cy="81081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543550" y="982266"/>
            <a:ext cx="57150" cy="8108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5657850" y="1096566"/>
            <a:ext cx="138588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57850" y="1276945"/>
            <a:ext cx="1385888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89.32%</a:t>
            </a:r>
            <a:endParaRPr lang="en-US" sz="2450" dirty="0"/>
          </a:p>
        </p:txBody>
      </p:sp>
      <p:sp>
        <p:nvSpPr>
          <p:cNvPr id="16" name="Shape 13"/>
          <p:cNvSpPr/>
          <p:nvPr/>
        </p:nvSpPr>
        <p:spPr>
          <a:xfrm>
            <a:off x="7243763" y="982266"/>
            <a:ext cx="1614488" cy="81081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243763" y="982266"/>
            <a:ext cx="57150" cy="8108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7358063" y="1096566"/>
            <a:ext cx="138588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F1-SCORE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58063" y="1276945"/>
            <a:ext cx="1385888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89.38%</a:t>
            </a:r>
            <a:endParaRPr lang="en-US" sz="2450" dirty="0"/>
          </a:p>
        </p:txBody>
      </p:sp>
      <p:sp>
        <p:nvSpPr>
          <p:cNvPr id="20" name="Shape 17"/>
          <p:cNvSpPr/>
          <p:nvPr/>
        </p:nvSpPr>
        <p:spPr>
          <a:xfrm>
            <a:off x="5543550" y="1878806"/>
            <a:ext cx="1614488" cy="11072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8"/>
          <p:cNvSpPr/>
          <p:nvPr/>
        </p:nvSpPr>
        <p:spPr>
          <a:xfrm>
            <a:off x="5543550" y="1878806"/>
            <a:ext cx="57150" cy="110728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19"/>
          <p:cNvSpPr/>
          <p:nvPr/>
        </p:nvSpPr>
        <p:spPr>
          <a:xfrm>
            <a:off x="5657850" y="1993106"/>
            <a:ext cx="138588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TIME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57850" y="2173486"/>
            <a:ext cx="1385888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2.5s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5657850" y="2603897"/>
            <a:ext cx="138588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5A5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Highly efficient CPU execution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7254" y="-2603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Advanced Model: Fine-Tuned DistilBERT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1450" y="867966"/>
            <a:ext cx="519492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Transformer Architecture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1450" y="1159073"/>
            <a:ext cx="51949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overcome the limitations of the baseline model, a transformer-based approach was implemented using DistilBERT.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0038" y="1673423"/>
            <a:ext cx="5066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 Contextual Understanding: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Reads sentences bidirectionally, understanding word context based on surroundings.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0038" y="2187773"/>
            <a:ext cx="5066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Efficiency: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Retains 97% of BERT's language understanding capabilities while being faster.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1450" y="2787848"/>
            <a:ext cx="519492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0037" y="3114675"/>
            <a:ext cx="2588635" cy="18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>
              <a:lnSpc>
                <a:spcPct val="128000"/>
              </a:lnSpc>
              <a:buSzPct val="100000"/>
              <a:buFontTx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 </a:t>
            </a:r>
            <a:r>
              <a:rPr lang="en-US" sz="1000" b="1" dirty="0" smtClean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Model: </a:t>
            </a:r>
            <a:r>
              <a:rPr lang="en-US" sz="1000" dirty="0" err="1" smtClean="0">
                <a:solidFill>
                  <a:srgbClr val="34495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distilbert</a:t>
            </a:r>
            <a:r>
              <a:rPr lang="en-US" sz="1000" dirty="0" smtClean="0">
                <a:solidFill>
                  <a:srgbClr val="34495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-base-uncased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0038" y="3370064"/>
            <a:ext cx="50663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Epochs: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0038" y="3655814"/>
            <a:ext cx="50663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Batch Size: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dirty="0" smtClean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0038" y="3941564"/>
            <a:ext cx="50663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Learning Rate: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2e-5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0038" y="4227314"/>
            <a:ext cx="50663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Max Sequence Length: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256 tokens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09254" y="867966"/>
            <a:ext cx="1695915" cy="7393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4"/>
          <p:cNvSpPr/>
          <p:nvPr/>
        </p:nvSpPr>
        <p:spPr>
          <a:xfrm>
            <a:off x="5509254" y="867966"/>
            <a:ext cx="57150" cy="73937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5594979" y="953691"/>
            <a:ext cx="152446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94979" y="1119783"/>
            <a:ext cx="152446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91.22%</a:t>
            </a:r>
            <a:endParaRPr lang="en-US" sz="2450" dirty="0"/>
          </a:p>
        </p:txBody>
      </p:sp>
      <p:sp>
        <p:nvSpPr>
          <p:cNvPr id="20" name="Shape 17"/>
          <p:cNvSpPr/>
          <p:nvPr/>
        </p:nvSpPr>
        <p:spPr>
          <a:xfrm>
            <a:off x="7276607" y="867966"/>
            <a:ext cx="1695943" cy="7393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8"/>
          <p:cNvSpPr/>
          <p:nvPr/>
        </p:nvSpPr>
        <p:spPr>
          <a:xfrm>
            <a:off x="7276607" y="867966"/>
            <a:ext cx="57150" cy="73937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19"/>
          <p:cNvSpPr/>
          <p:nvPr/>
        </p:nvSpPr>
        <p:spPr>
          <a:xfrm>
            <a:off x="7362332" y="953691"/>
            <a:ext cx="152449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F1-SCORE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62332" y="1119783"/>
            <a:ext cx="1524493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91.25%</a:t>
            </a:r>
            <a:endParaRPr lang="en-US" sz="2450" dirty="0"/>
          </a:p>
        </p:txBody>
      </p:sp>
      <p:sp>
        <p:nvSpPr>
          <p:cNvPr id="24" name="Shape 21"/>
          <p:cNvSpPr/>
          <p:nvPr/>
        </p:nvSpPr>
        <p:spPr>
          <a:xfrm>
            <a:off x="5509254" y="1678781"/>
            <a:ext cx="1695915" cy="9018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5509254" y="1678781"/>
            <a:ext cx="57150" cy="90189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3"/>
          <p:cNvSpPr/>
          <p:nvPr/>
        </p:nvSpPr>
        <p:spPr>
          <a:xfrm>
            <a:off x="5594979" y="1764506"/>
            <a:ext cx="152446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TIME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94979" y="1930598"/>
            <a:ext cx="152446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~7.9m</a:t>
            </a:r>
            <a:endParaRPr lang="en-US" sz="2450" dirty="0"/>
          </a:p>
        </p:txBody>
      </p:sp>
      <p:sp>
        <p:nvSpPr>
          <p:cNvPr id="28" name="Text 25"/>
          <p:cNvSpPr/>
          <p:nvPr/>
        </p:nvSpPr>
        <p:spPr>
          <a:xfrm>
            <a:off x="5594979" y="2361009"/>
            <a:ext cx="1524465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5A5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GPU (T4)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276607" y="1678781"/>
            <a:ext cx="1695943" cy="9018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7"/>
          <p:cNvSpPr/>
          <p:nvPr/>
        </p:nvSpPr>
        <p:spPr>
          <a:xfrm>
            <a:off x="7276607" y="1678781"/>
            <a:ext cx="57150" cy="90189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8"/>
          <p:cNvSpPr/>
          <p:nvPr/>
        </p:nvSpPr>
        <p:spPr>
          <a:xfrm>
            <a:off x="7362332" y="1764506"/>
            <a:ext cx="152449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362332" y="1930598"/>
            <a:ext cx="1524493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2.17ms</a:t>
            </a:r>
            <a:endParaRPr lang="en-US" sz="2450" dirty="0"/>
          </a:p>
        </p:txBody>
      </p:sp>
      <p:sp>
        <p:nvSpPr>
          <p:cNvPr id="33" name="Text 30"/>
          <p:cNvSpPr/>
          <p:nvPr/>
        </p:nvSpPr>
        <p:spPr>
          <a:xfrm>
            <a:off x="7362332" y="2361009"/>
            <a:ext cx="152449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5A5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sample latency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Performance Comparison and Trade-offs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982266"/>
            <a:ext cx="4361259" cy="2857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Predictive Performance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53766"/>
            <a:ext cx="4361259" cy="3214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7072" y="982266"/>
            <a:ext cx="3568303" cy="2857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Resource Requirements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147072" y="1410891"/>
            <a:ext cx="1232436" cy="2982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5"/>
          <p:cNvSpPr/>
          <p:nvPr/>
        </p:nvSpPr>
        <p:spPr>
          <a:xfrm>
            <a:off x="5147072" y="1701998"/>
            <a:ext cx="1232436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6"/>
          <p:cNvSpPr/>
          <p:nvPr/>
        </p:nvSpPr>
        <p:spPr>
          <a:xfrm>
            <a:off x="5147072" y="1410891"/>
            <a:ext cx="1232436" cy="298252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Metric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79508" y="1410891"/>
            <a:ext cx="1210001" cy="2982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6379508" y="1701998"/>
            <a:ext cx="1210001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Text 9"/>
          <p:cNvSpPr/>
          <p:nvPr/>
        </p:nvSpPr>
        <p:spPr>
          <a:xfrm>
            <a:off x="6379508" y="1410891"/>
            <a:ext cx="1210001" cy="298252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 (TF-IDF)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589509" y="1410891"/>
            <a:ext cx="1125866" cy="2982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9509" y="1701998"/>
            <a:ext cx="1125866" cy="71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6" name="Text 12"/>
          <p:cNvSpPr/>
          <p:nvPr/>
        </p:nvSpPr>
        <p:spPr>
          <a:xfrm>
            <a:off x="7589509" y="1410891"/>
            <a:ext cx="1125866" cy="298252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DistilBERT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18509" y="1777008"/>
            <a:ext cx="55721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Hardware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79508" y="1705570"/>
            <a:ext cx="1210001" cy="298252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CPU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589509" y="1705570"/>
            <a:ext cx="1125866" cy="298252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T4 GPU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218509" y="2078831"/>
            <a:ext cx="79831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 Time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379508" y="2003822"/>
            <a:ext cx="1210001" cy="30182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 seconds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589509" y="2003822"/>
            <a:ext cx="1125866" cy="30182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~7.9 minutes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218509" y="2380655"/>
            <a:ext cx="103405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Inference Latency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79508" y="2305645"/>
            <a:ext cx="1210001" cy="30182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0.003 ms/sample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589509" y="2305645"/>
            <a:ext cx="1125866" cy="30182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2.17 ms/sample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147072" y="2753916"/>
            <a:ext cx="3568303" cy="2857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Application Suitability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289947" y="3182541"/>
            <a:ext cx="342542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 Model:</a:t>
            </a:r>
            <a:r>
              <a:rPr lang="en-US" sz="9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Ideal for highly cost-constrained environments processing massive volumes of reviews where nuanced understanding (like sarcasm) is less critical.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289947" y="3846909"/>
            <a:ext cx="342542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DistilBERT Model:</a:t>
            </a:r>
            <a:r>
              <a:rPr lang="en-US" sz="9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Best suited for premium customer experience monitoring. The +1.90% accuracy gain and deep contextual understanding justify the higher infrastructure costs when missing a critical complaint is unacceptable.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Error Analysis and Limitations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910828"/>
            <a:ext cx="4000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Overall Error Rate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8625" y="1230511"/>
            <a:ext cx="4000500" cy="5429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230511"/>
            <a:ext cx="57150" cy="542925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230511"/>
            <a:ext cx="4000500" cy="5429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4C3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8.78% Misclassification Rate
</a:t>
            </a:r>
            <a:r>
              <a:rPr lang="en-US" sz="95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(2,196 errors out of 25,000 test samples)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1880592"/>
            <a:ext cx="4000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7219" y="2200275"/>
            <a:ext cx="3821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Sarcasm &amp; Irony: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model frequently misinterprets positive words used in a negative or sarcastic context.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7219" y="2728913"/>
            <a:ext cx="3821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Mixed Sentiment: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Reviews that list both pros and cons can overwhelm the primary sentiment, confusing the classifier.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7219" y="3257550"/>
            <a:ext cx="38219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Truncation: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DistilBERT model is limited to a maximum sequence length of 256 tokens. Extremely long reviews lose critical context if the true sentiment is revealed at the end.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14875" y="910828"/>
            <a:ext cx="4000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Known Failure Cases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14875" y="1344811"/>
            <a:ext cx="4000500" cy="11072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714875" y="1344811"/>
            <a:ext cx="57150" cy="1107281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30536"/>
            <a:ext cx="382905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7F8C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CHALLENGE: SARCASM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00600" y="1639491"/>
            <a:ext cx="3829050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"Oh great, another superhero movie. Just what we needed. The special effects were amazing though, I will give them that."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0600" y="2214563"/>
            <a:ext cx="382905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Predicted: Positive (89.6% Confidence)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14875" y="2566392"/>
            <a:ext cx="4000500" cy="9394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4714875" y="2566392"/>
            <a:ext cx="57150" cy="939403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8"/>
          <p:cNvSpPr/>
          <p:nvPr/>
        </p:nvSpPr>
        <p:spPr>
          <a:xfrm>
            <a:off x="4800600" y="2652117"/>
            <a:ext cx="382905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7F8C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CHALLENGE: NEUTRAL / MIXED SIGNALS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00600" y="2861072"/>
            <a:ext cx="382905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movie was not bad, not good, just... there. Like wallpaper."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00600" y="3268266"/>
            <a:ext cx="382905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Predicted: Negative (99.6% Confidence)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23242"/>
            <a:ext cx="215205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Deployment Strategy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071563"/>
            <a:ext cx="3929063" cy="31968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 Streamlit Web Application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1534120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interactive, user-friendly web interface designed for business stakeholders and customer experience teams.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7219" y="2169914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Instant Analysis: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Users can paste reviews and instantly view sentiment predictions.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7219" y="2734270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Confidence Scores: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Displays model certainty to aid human-in-the-loop decision making.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7219" y="3298627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Accessibility: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Requires no coding knowledge to operate and evaluate customer feedback.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86313" y="1071563"/>
            <a:ext cx="3929063" cy="31968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98D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 FastAPI REST Endpoint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86313" y="1534120"/>
            <a:ext cx="3929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robust, high-performance API designed for software engineers and data scientists.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4906" y="2169914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Programmatic Access: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Allows automated batch prediction and system-to-system communication.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64906" y="2734270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Seamless Integration: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Easily connects with existing backend systems, ticketing workflows, and data pipelines.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64906" y="3298627"/>
            <a:ext cx="375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Scalability: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on ASGI standards for high throughput and concurrent request handling.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8625" y="4220170"/>
            <a:ext cx="8286750" cy="8572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4220170"/>
            <a:ext cx="57150" cy="8572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4"/>
          <p:cNvSpPr/>
          <p:nvPr/>
        </p:nvSpPr>
        <p:spPr>
          <a:xfrm>
            <a:off x="642938" y="4509492"/>
            <a:ext cx="7858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Operational Efficiency: Both deployment artifacts load the serialized DistilBERT model directly into memory upon startup. This ensures low-latency inference and immediate business value without requiring any model retraining.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5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14313"/>
            <a:ext cx="8286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Conclusion and Future Work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8588" y="825103"/>
            <a:ext cx="4357688" cy="41898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128588" y="825103"/>
            <a:ext cx="4357688" cy="5715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335756" y="925116"/>
            <a:ext cx="1698427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Conclusion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" y="1244798"/>
            <a:ext cx="4157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capstone project delivered an end-to-end automated sentiment analysis system.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1475" y="1759148"/>
            <a:ext cx="19216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Superior Performance: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Fine-tuned DistilBERT reached 91.22% accuracy vs TF-IDF baseline.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64594" y="1759148"/>
            <a:ext cx="19216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Contextual Understanding: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Transformer captured linguistic nuances missed by traditional models.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64594" y="2716411"/>
            <a:ext cx="19216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Deployment Ready: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Integrated into Streamlit and FastAPI applications.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57725" y="825103"/>
            <a:ext cx="4357688" cy="41898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57725" y="825103"/>
            <a:ext cx="4357688" cy="571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894" y="925116"/>
            <a:ext cx="196095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57738" y="1244798"/>
            <a:ext cx="41576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improve robustness and business value, consider: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00613" y="1530548"/>
            <a:ext cx="19216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Chunking: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Overlapping text chunks for reviews &gt;256 tokens.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00613" y="2259211"/>
            <a:ext cx="19216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Multi-Class: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a Neutral category for nuanced feedback.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93731" y="1530548"/>
            <a:ext cx="19216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Aspect-Based: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Identify sentiment toward specific features (e.g., acting vs plot).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3731" y="2259211"/>
            <a:ext cx="19216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4495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Domain Adaptation:</a:t>
            </a:r>
            <a:r>
              <a:rPr lang="en-US" sz="105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Fine-tune on industry datasets for better accuracy.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883</Words>
  <Application>Microsoft Office PowerPoint</Application>
  <PresentationFormat>On-screen Show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monospace</vt:lpstr>
      <vt:lpstr>Roboto</vt:lpstr>
      <vt:lpstr>Roboto Bold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vaibhav</cp:lastModifiedBy>
  <cp:revision>3</cp:revision>
  <dcterms:created xsi:type="dcterms:W3CDTF">2026-06-15T12:24:21Z</dcterms:created>
  <dcterms:modified xsi:type="dcterms:W3CDTF">2026-06-15T15:42:45Z</dcterms:modified>
</cp:coreProperties>
</file>